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매물노트를 어떻게 쓰는지 보여드리고, 11월부터 어떻게 일할지 맞추는 자리입니다. 한 시간 안에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일을 늘리려는 게 아니라 줄이려는 겁니다. 폰으로 링크 하나만 누르면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시연: 받은 매물 문자 하나 복사해서 붙여넣고 자동 채우기 → 등록까지 직접 보여주기. 사진은 캡처 여러 장도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확인 = 매물이 아직 살아있다는 표시. 오래된 매물이 섞이지 않게 하는 게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계약·잔금·안내가 잡히면 바로 넣기. 대표가 HQ에서 같이 보고 겹치지 않게 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입금되면 받은 돈으로 바로 옮겨집니다. 궁금하면 묻기 전에 여기 먼저 보기. 배분 비율은 개인 면담으로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10/31까지는 지금처럼 연락. 11/1 아침에 "대화가 열렸어요" 알림이 한 번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연습 매물은 나중에 지워도 됩니다. 써보면서 막히는 부분이 제일 중요한 피드백입니다.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4B5F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0A6"/>
                </a:solidFill>
              </a:rPr>
              <a:t>리츠부동산 · RITZ 매물노트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4B5F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리츠부동산 직원 회의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RITZ 매물노트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시작합니다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28 (수) 오후 1시  ·  리츠부동산 사무실</a:t>
            </a:r>
            <a:endParaRPr lang="en-US" sz="1800" dirty="0"/>
          </a:p>
        </p:txBody>
      </p:sp>
      <p:sp>
        <p:nvSpPr>
          <p:cNvPr id="5" name="pill"/>
          <p:cNvSpPr/>
          <p:nvPr/>
        </p:nvSpPr>
        <p:spPr>
          <a:xfrm>
            <a:off x="731520" y="4846320"/>
            <a:ext cx="5120640" cy="68580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설치·가입 없이 개인 링크 하나면 끝</a:t>
            </a:r>
            <a:endParaRPr lang="en-US" sz="2000" dirty="0"/>
          </a:p>
        </p:txBody>
      </p:sp>
      <p:sp>
        <p:nvSpPr>
          <p:cNvPr id="7" name="phone-frame"/>
          <p:cNvSpPr/>
          <p:nvPr/>
        </p:nvSpPr>
        <p:spPr>
          <a:xfrm>
            <a:off x="8695944" y="603504"/>
            <a:ext cx="2699777" cy="5650992"/>
          </a:xfrm>
          <a:prstGeom prst="roundRect">
            <a:avLst>
              <a:gd name="adj" fmla="val 7451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screen" descr="s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685800"/>
            <a:ext cx="2535185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4B5F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오늘 이야기할 것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4" name="num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8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바꾸나요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하나로 정리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9" name="num"/>
          <p:cNvSpPr/>
          <p:nvPr/>
        </p:nvSpPr>
        <p:spPr>
          <a:xfrm>
            <a:off x="4617720" y="192024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8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언제부터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→ 11/1 실사용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046720" y="160020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14" name="num"/>
          <p:cNvSpPr/>
          <p:nvPr/>
        </p:nvSpPr>
        <p:spPr>
          <a:xfrm>
            <a:off x="8366760" y="192024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8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등록·관리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채우기, 오늘 확인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548640" y="384048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19" name="num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108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계약·잔금·안내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4297680" y="384048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24" name="num"/>
          <p:cNvSpPr/>
          <p:nvPr/>
        </p:nvSpPr>
        <p:spPr>
          <a:xfrm>
            <a:off x="4617720" y="41605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772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108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정산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 돈·받은 돈 확인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8046720" y="3840480"/>
            <a:ext cx="3474720" cy="1965960"/>
          </a:xfrm>
          <a:prstGeom prst="roundRect">
            <a:avLst>
              <a:gd name="adj" fmla="val 8372"/>
            </a:avLst>
          </a:prstGeom>
          <a:solidFill>
            <a:srgbClr val="F4F1FB"/>
          </a:solidFill>
          <a:ln/>
        </p:spPr>
      </p:sp>
      <p:sp>
        <p:nvSpPr>
          <p:cNvPr id="29" name="num"/>
          <p:cNvSpPr/>
          <p:nvPr/>
        </p:nvSpPr>
        <p:spPr>
          <a:xfrm>
            <a:off x="8366760" y="41605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108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· 오늘 받을 것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동의, 계좌, 숙제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왜 바꾸나요</a:t>
            </a:r>
            <a:endParaRPr lang="en-US" sz="3600" dirty="0"/>
          </a:p>
        </p:txBody>
      </p:sp>
      <p:sp>
        <p:nvSpPr>
          <p:cNvPr id="3" name="before"/>
          <p:cNvSpPr/>
          <p:nvPr/>
        </p:nvSpPr>
        <p:spPr>
          <a:xfrm>
            <a:off x="548640" y="1600200"/>
            <a:ext cx="5120640" cy="429768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카카오워크 · 시트 · 단톡방 따로따로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찾으려면 여기저기 확인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얼마 받는지 물어봐야 앎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715000" y="32918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after"/>
          <p:cNvSpPr/>
          <p:nvPr/>
        </p:nvSpPr>
        <p:spPr>
          <a:xfrm>
            <a:off x="6492240" y="1600200"/>
            <a:ext cx="5120640" cy="4297680"/>
          </a:xfrm>
          <a:prstGeom prst="roundRect">
            <a:avLst>
              <a:gd name="adj" fmla="val 4255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5603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링크 하나 (설치·가입 없음)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 · 일정 · 정산 · 대화 한 곳에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돈 흐름을 내가 바로 확인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언제부터 쓰나요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50800">
            <a:solidFill>
              <a:srgbClr val="D8CCF5"/>
            </a:solidFill>
            <a:prstDash val="solid"/>
          </a:ln>
        </p:spPr>
      </p:sp>
      <p:sp>
        <p:nvSpPr>
          <p:cNvPr id="4" name="dot"/>
          <p:cNvSpPr/>
          <p:nvPr/>
        </p:nvSpPr>
        <p:spPr>
          <a:xfrm>
            <a:off x="960120" y="283464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~ 10/31</a:t>
            </a:r>
            <a:endParaRPr lang="en-US" sz="2600" dirty="0"/>
          </a:p>
        </p:txBody>
      </p:sp>
      <p:sp>
        <p:nvSpPr>
          <p:cNvPr id="6" name="card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4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기간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둘러보고 연습 매물 1개 등록</a:t>
            </a:r>
            <a:endParaRPr lang="en-US" sz="1700" dirty="0"/>
          </a:p>
        </p:txBody>
      </p:sp>
      <p:sp>
        <p:nvSpPr>
          <p:cNvPr id="9" name="dot"/>
          <p:cNvSpPr/>
          <p:nvPr/>
        </p:nvSpPr>
        <p:spPr>
          <a:xfrm>
            <a:off x="4709160" y="283464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1일</a:t>
            </a:r>
            <a:endParaRPr lang="en-US" sz="2600" dirty="0"/>
          </a:p>
        </p:txBody>
      </p:sp>
      <p:sp>
        <p:nvSpPr>
          <p:cNvPr id="11" name="card"/>
          <p:cNvSpPr/>
          <p:nvPr/>
        </p:nvSpPr>
        <p:spPr>
          <a:xfrm>
            <a:off x="4297680" y="36576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4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사용 시작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매물·일정은 전부 여기로</a:t>
            </a:r>
            <a:endParaRPr lang="en-US" sz="1700" dirty="0"/>
          </a:p>
        </p:txBody>
      </p:sp>
      <p:sp>
        <p:nvSpPr>
          <p:cNvPr id="14" name="dot"/>
          <p:cNvSpPr/>
          <p:nvPr/>
        </p:nvSpPr>
        <p:spPr>
          <a:xfrm>
            <a:off x="8458200" y="283464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1일</a:t>
            </a:r>
            <a:endParaRPr lang="en-US" sz="2600" dirty="0"/>
          </a:p>
        </p:txBody>
      </p:sp>
      <p:sp>
        <p:nvSpPr>
          <p:cNvPr id="16" name="card"/>
          <p:cNvSpPr/>
          <p:nvPr/>
        </p:nvSpPr>
        <p:spPr>
          <a:xfrm>
            <a:off x="8046720" y="36576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4F1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대화도 여기서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1:1 · 팀방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① 매물 등록은 3단계</a:t>
            </a:r>
            <a:endParaRPr lang="en-US" sz="3600" dirty="0"/>
          </a:p>
        </p:txBody>
      </p:sp>
      <p:sp>
        <p:nvSpPr>
          <p:cNvPr id="3" name="num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8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09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[＋ 매물 등록] 누르기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위쪽 보라색 버튼</a:t>
            </a:r>
            <a:endParaRPr lang="en-US" sz="2400" dirty="0"/>
          </a:p>
        </p:txBody>
      </p:sp>
      <p:sp>
        <p:nvSpPr>
          <p:cNvPr id="6" name="num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8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52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글·캡처 붙여넣기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 채우기] 누르면 칸이 채워져요</a:t>
            </a:r>
            <a:endParaRPr lang="en-US" sz="2400" dirty="0"/>
          </a:p>
        </p:txBody>
      </p:sp>
      <p:sp>
        <p:nvSpPr>
          <p:cNvPr id="9" name="num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8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995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빈칸만 확인 → [등록하기]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직원 화면에는 1분 안에 보여요</a:t>
            </a:r>
            <a:endParaRPr lang="en-US" sz="2400" dirty="0"/>
          </a:p>
        </p:txBody>
      </p:sp>
      <p:sp>
        <p:nvSpPr>
          <p:cNvPr id="12" name="tip"/>
          <p:cNvSpPr/>
          <p:nvPr/>
        </p:nvSpPr>
        <p:spPr>
          <a:xfrm>
            <a:off x="548640" y="5257800"/>
            <a:ext cx="5852160" cy="731520"/>
          </a:xfrm>
          <a:prstGeom prst="roundRect">
            <a:avLst>
              <a:gd name="adj" fmla="val 18750"/>
            </a:avLst>
          </a:prstGeom>
          <a:solidFill>
            <a:srgbClr val="FEF9C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257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3F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매물번호는 자동  </a:t>
            </a:r>
            <a:pPr indent="0" marL="0">
              <a:buNone/>
            </a:pPr>
            <a:r>
              <a:rPr lang="en-US" sz="1600" dirty="0">
                <a:solidFill>
                  <a:srgbClr val="713F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2610-원011 = 26년10월 · 원룸 · 11번</a:t>
            </a:r>
            <a:endParaRPr lang="en-US" sz="1600" dirty="0"/>
          </a:p>
        </p:txBody>
      </p:sp>
      <p:sp>
        <p:nvSpPr>
          <p:cNvPr id="14" name="phone-frame"/>
          <p:cNvSpPr/>
          <p:nvPr/>
        </p:nvSpPr>
        <p:spPr>
          <a:xfrm>
            <a:off x="6638544" y="13807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screen" descr="s_ne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63040"/>
            <a:ext cx="2133781" cy="4617720"/>
          </a:xfrm>
          <a:prstGeom prst="rect">
            <a:avLst/>
          </a:prstGeom>
        </p:spPr>
      </p:pic>
      <p:sp>
        <p:nvSpPr>
          <p:cNvPr id="16" name="phone-frame"/>
          <p:cNvSpPr/>
          <p:nvPr/>
        </p:nvSpPr>
        <p:spPr>
          <a:xfrm>
            <a:off x="9198864" y="13807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screen" descr="s_ne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463040"/>
            <a:ext cx="2133781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② 내 매물 관리</a:t>
            </a:r>
            <a:endParaRPr lang="en-US" sz="3600" dirty="0"/>
          </a:p>
        </p:txBody>
      </p:sp>
      <p:sp>
        <p:nvSpPr>
          <p:cNvPr id="3" name="phone-frame"/>
          <p:cNvSpPr/>
          <p:nvPr/>
        </p:nvSpPr>
        <p:spPr>
          <a:xfrm>
            <a:off x="740664" y="13807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screen" descr="s_m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133781" cy="461772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4023360" y="1600200"/>
            <a:ext cx="7589520" cy="1234440"/>
          </a:xfrm>
          <a:prstGeom prst="roundRect">
            <a:avLst>
              <a:gd name="adj" fmla="val 13333"/>
            </a:avLst>
          </a:prstGeom>
          <a:solidFill>
            <a:srgbClr val="F4F1FB"/>
          </a:solidFill>
          <a:ln/>
        </p:spPr>
      </p:sp>
      <p:sp>
        <p:nvSpPr>
          <p:cNvPr id="6" name="dot"/>
          <p:cNvSpPr/>
          <p:nvPr/>
        </p:nvSpPr>
        <p:spPr>
          <a:xfrm>
            <a:off x="4297680" y="199339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8348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· 보류 · 계약완료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상태만 바꾸면 목록이 정리돼요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023360" y="3063240"/>
            <a:ext cx="7589520" cy="1234440"/>
          </a:xfrm>
          <a:prstGeom prst="roundRect">
            <a:avLst>
              <a:gd name="adj" fmla="val 13333"/>
            </a:avLst>
          </a:prstGeom>
          <a:solidFill>
            <a:srgbClr val="F4F1FB"/>
          </a:solidFill>
          <a:ln/>
        </p:spPr>
      </p:sp>
      <p:sp>
        <p:nvSpPr>
          <p:cNvPr id="10" name="dot"/>
          <p:cNvSpPr/>
          <p:nvPr/>
        </p:nvSpPr>
        <p:spPr>
          <a:xfrm>
            <a:off x="4297680" y="345643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834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[오늘 확인]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집주인과 통화해서 살아있으면 한 번 누르기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023360" y="4526280"/>
            <a:ext cx="7589520" cy="1234440"/>
          </a:xfrm>
          <a:prstGeom prst="roundRect">
            <a:avLst>
              <a:gd name="adj" fmla="val 13333"/>
            </a:avLst>
          </a:prstGeom>
          <a:solidFill>
            <a:srgbClr val="F4F1FB"/>
          </a:solidFill>
          <a:ln/>
        </p:spPr>
      </p:sp>
      <p:sp>
        <p:nvSpPr>
          <p:cNvPr id="14" name="dot"/>
          <p:cNvSpPr/>
          <p:nvPr/>
        </p:nvSpPr>
        <p:spPr>
          <a:xfrm>
            <a:off x="4297680" y="491947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8348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넘게 확인 안 한 매물은 따로 모여요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③ 계약 · 잔금 · 안내 일정</a:t>
            </a:r>
            <a:endParaRPr lang="en-US" sz="3600" dirty="0"/>
          </a:p>
        </p:txBody>
      </p:sp>
      <p:sp>
        <p:nvSpPr>
          <p:cNvPr id="3" name="num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8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099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[일정]에 바로 넣기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· 시간 · 매물번호만 적으면 끝</a:t>
            </a:r>
            <a:endParaRPr lang="en-US" sz="2400" dirty="0"/>
          </a:p>
        </p:txBody>
      </p:sp>
      <p:sp>
        <p:nvSpPr>
          <p:cNvPr id="6" name="num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8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986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맨 위 "다가오는 내 일정"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안 일정이 바로 보여요</a:t>
            </a:r>
            <a:endParaRPr lang="en-US" sz="2400" dirty="0"/>
          </a:p>
        </p:txBody>
      </p:sp>
      <p:sp>
        <p:nvSpPr>
          <p:cNvPr id="9" name="num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8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087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대표님도 같은 일정을 봐요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보고 안 해도 돼요</a:t>
            </a:r>
            <a:endParaRPr lang="en-US" sz="2400" dirty="0"/>
          </a:p>
        </p:txBody>
      </p:sp>
      <p:sp>
        <p:nvSpPr>
          <p:cNvPr id="12" name="phone-frame"/>
          <p:cNvSpPr/>
          <p:nvPr/>
        </p:nvSpPr>
        <p:spPr>
          <a:xfrm>
            <a:off x="8421624" y="13807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screen" descr="s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33781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④ 내 정산, 내가 바로 확인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4F1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 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계약으로 생긴 내 몫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063240" y="160020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4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돈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입금된 금액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577840" y="1600200"/>
            <a:ext cx="2286000" cy="1737360"/>
          </a:xfrm>
          <a:prstGeom prst="roundRect">
            <a:avLst>
              <a:gd name="adj" fmla="val 9474"/>
            </a:avLst>
          </a:prstGeom>
          <a:solidFill>
            <a:srgbClr val="F4F1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06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받은 돈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지급 전인 금액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말일 마감 → 다음 달 10일 일괄 지급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3.3% 공제 후 지급 (홈에 표시)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배분 비율은 개인별로 따로 안내</a:t>
            </a:r>
            <a:endParaRPr lang="en-US" sz="2000" dirty="0"/>
          </a:p>
        </p:txBody>
      </p:sp>
      <p:pic>
        <p:nvPicPr>
          <p:cNvPr id="13" name="money" descr="s_mo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00200"/>
            <a:ext cx="3429000" cy="29884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⑤ 11월 1일부터 대화도 여기서</a:t>
            </a:r>
            <a:endParaRPr lang="en-US" sz="3600" dirty="0"/>
          </a:p>
        </p:txBody>
      </p:sp>
      <p:sp>
        <p:nvSpPr>
          <p:cNvPr id="3" name="num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108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099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"어닝플레이스" 채널 방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[대화하기] 누르기</a:t>
            </a:r>
            <a:endParaRPr lang="en-US" sz="2400" dirty="0"/>
          </a:p>
        </p:txBody>
      </p:sp>
      <p:sp>
        <p:nvSpPr>
          <p:cNvPr id="6" name="num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108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986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1:1 · 전체 · 부동산팀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먼저 써도 돼요</a:t>
            </a:r>
            <a:endParaRPr lang="en-US" sz="2400" dirty="0"/>
          </a:p>
        </p:txBody>
      </p:sp>
      <p:sp>
        <p:nvSpPr>
          <p:cNvPr id="9" name="num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108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087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글은 카톡 알림으로 와요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설치 필요 없음</a:t>
            </a:r>
            <a:endParaRPr lang="en-US" sz="2400" dirty="0"/>
          </a:p>
        </p:txBody>
      </p:sp>
      <p:sp>
        <p:nvSpPr>
          <p:cNvPr id="12" name="phone-frame"/>
          <p:cNvSpPr/>
          <p:nvPr/>
        </p:nvSpPr>
        <p:spPr>
          <a:xfrm>
            <a:off x="8421624" y="1380744"/>
            <a:ext cx="2298373" cy="4782312"/>
          </a:xfrm>
          <a:prstGeom prst="roundRect">
            <a:avLst>
              <a:gd name="adj" fmla="val 8753"/>
            </a:avLst>
          </a:prstGeom>
          <a:solidFill>
            <a:srgbClr val="1F16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screen" descr="s_ch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33781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오늘 회의에서 받을 것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F4F1FB"/>
          </a:solidFill>
          <a:ln/>
        </p:spPr>
      </p:sp>
      <p:sp>
        <p:nvSpPr>
          <p:cNvPr id="4" name="checkbox"/>
          <p:cNvSpPr/>
          <p:nvPr/>
        </p:nvSpPr>
        <p:spPr>
          <a:xfrm>
            <a:off x="8686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1750">
            <a:solidFill>
              <a:srgbClr val="6D2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920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채널 친구 추가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560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"어닝플레이스" 검색 → 친구 추가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172200" y="160020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F4F1FB"/>
          </a:solidFill>
          <a:ln/>
        </p:spPr>
      </p:sp>
      <p:sp>
        <p:nvSpPr>
          <p:cNvPr id="8" name="checkbox"/>
          <p:cNvSpPr/>
          <p:nvPr/>
        </p:nvSpPr>
        <p:spPr>
          <a:xfrm>
            <a:off x="649224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175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920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연락 · 대화 보관 동의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560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수신, 업무 기록 보관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548640" y="374904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F4F1FB"/>
          </a:solidFill>
          <a:ln/>
        </p:spPr>
      </p:sp>
      <p:sp>
        <p:nvSpPr>
          <p:cNvPr id="12" name="checkbox"/>
          <p:cNvSpPr/>
          <p:nvPr/>
        </p:nvSpPr>
        <p:spPr>
          <a:xfrm>
            <a:off x="868680" y="4114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175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계좌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709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통장 사본 한 장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6172200" y="3749040"/>
            <a:ext cx="5394960" cy="1874520"/>
          </a:xfrm>
          <a:prstGeom prst="roundRect">
            <a:avLst>
              <a:gd name="adj" fmla="val 8780"/>
            </a:avLst>
          </a:prstGeom>
          <a:solidFill>
            <a:srgbClr val="F4F1FB"/>
          </a:solidFill>
          <a:ln/>
        </p:spPr>
      </p:sp>
      <p:sp>
        <p:nvSpPr>
          <p:cNvPr id="16" name="checkbox"/>
          <p:cNvSpPr/>
          <p:nvPr/>
        </p:nvSpPr>
        <p:spPr>
          <a:xfrm>
            <a:off x="6492240" y="4114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175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링크 홈화면 추가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709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1:1로 받은 링크 → 홈 화면에 추가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10/31까지 숙제</a:t>
            </a:r>
            <a:endParaRPr lang="en-US" sz="4000" dirty="0"/>
          </a:p>
        </p:txBody>
      </p:sp>
      <p:sp>
        <p:nvSpPr>
          <p:cNvPr id="3" name="num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매물 1개 등록해보기</a:t>
            </a:r>
            <a:endParaRPr lang="en-US" sz="3000" dirty="0"/>
          </a:p>
        </p:txBody>
      </p:sp>
      <p:sp>
        <p:nvSpPr>
          <p:cNvPr id="6" name="num"/>
          <p:cNvSpPr/>
          <p:nvPr/>
        </p:nvSpPr>
        <p:spPr>
          <a:xfrm>
            <a:off x="731520" y="3200400"/>
            <a:ext cx="731520" cy="73152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계약·잔금·안내 일정 1개 넣어보기</a:t>
            </a:r>
            <a:endParaRPr lang="en-US" sz="3000" dirty="0"/>
          </a:p>
        </p:txBody>
      </p:sp>
      <p:sp>
        <p:nvSpPr>
          <p:cNvPr id="9" name="num"/>
          <p:cNvSpPr/>
          <p:nvPr/>
        </p:nvSpPr>
        <p:spPr>
          <a:xfrm>
            <a:off x="731520" y="4480560"/>
            <a:ext cx="731520" cy="73152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480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점은 바로 말해주기 → 바로 고쳐요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4B5F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앞으로 이렇게 키워가요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916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4C1D9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11월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쓰면서 고치기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9E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 바로 반영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297680" y="16916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F4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교육 과정 연결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교육생 → 단계별 성장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8046720" y="169164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F4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인원이 늘어도 그대로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54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팀·권한만 추가하면 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80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이것만 기억해요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매물은 </a:t>
            </a:r>
            <a:pPr indent="0" marL="0">
              <a:buNone/>
            </a:pPr>
            <a:r>
              <a:rPr lang="en-US" sz="4800" b="1" dirty="0">
                <a:solidFill>
                  <a:srgbClr val="FACC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[＋ 매물 등록]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계약·잔금은 </a:t>
            </a:r>
            <a:pPr indent="0" marL="0">
              <a:buNone/>
            </a:pPr>
            <a:r>
              <a:rPr lang="en-US" sz="4800" b="1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[일정]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E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 질문 받을게요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4B5F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TZ Purple">
  <a:themeElements>
    <a:clrScheme name="RITZ Purple">
      <a:dk1>
        <a:srgbClr val="1F1633"/>
      </a:dk1>
      <a:lt1>
        <a:srgbClr val="FFFFFF"/>
      </a:lt1>
      <a:dk2>
        <a:srgbClr val="4C1D95"/>
      </a:dk2>
      <a:lt2>
        <a:srgbClr val="F4F1FB"/>
      </a:lt2>
      <a:accent1>
        <a:srgbClr val="6D28D9"/>
      </a:accent1>
      <a:accent2>
        <a:srgbClr val="FACC15"/>
      </a:accent2>
      <a:accent3>
        <a:srgbClr val="16A34A"/>
      </a:accent3>
      <a:accent4>
        <a:srgbClr val="EA580C"/>
      </a:accent4>
      <a:accent5>
        <a:srgbClr val="A78BFA"/>
      </a:accent5>
      <a:accent6>
        <a:srgbClr val="64748B"/>
      </a:accent6>
      <a:hlink>
        <a:srgbClr val="6D28D9"/>
      </a:hlink>
      <a:folHlink>
        <a:srgbClr val="4C1D95"/>
      </a:folHlink>
    </a:clrScheme>
    <a:fontScheme name="RITZ Purpl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리츠부동산 직원 회의 · RITZ 매물노트</dc:title>
  <dc:subject>PptxGenJS Presentation</dc:subject>
  <dc:creator>리츠부동산</dc:creator>
  <cp:lastModifiedBy>리츠부동산</cp:lastModifiedBy>
  <cp:revision>1</cp:revision>
  <dcterms:created xsi:type="dcterms:W3CDTF">2026-10-27T13:01:24Z</dcterms:created>
  <dcterms:modified xsi:type="dcterms:W3CDTF">2026-10-27T13:01:24Z</dcterms:modified>
</cp:coreProperties>
</file>